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6" r:id="rId8"/>
    <p:sldId id="269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1202055"/>
            <a:ext cx="9799320" cy="1597025"/>
          </a:xfrm>
        </p:spPr>
        <p:txBody>
          <a:bodyPr/>
          <a:p>
            <a:r>
              <a:rPr lang="zh-CN" altLang="en-US" sz="4800"/>
              <a:t>基于</a:t>
            </a:r>
            <a:r>
              <a:rPr lang="en-US" altLang="zh-CN" sz="4800"/>
              <a:t> VLM </a:t>
            </a:r>
            <a:r>
              <a:rPr lang="zh-CN" altLang="en-US" sz="4800"/>
              <a:t>的智能图文问答助手</a:t>
            </a:r>
            <a:endParaRPr lang="zh-CN" altLang="en-US" sz="480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王泓浩、肖淇、韩冠</a:t>
            </a:r>
            <a:r>
              <a:rPr lang="zh-CN" altLang="en-US"/>
              <a:t>东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要做什么？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该项目是基于</a:t>
            </a:r>
            <a:r>
              <a:rPr lang="en-US" altLang="zh-CN"/>
              <a:t>VLM</a:t>
            </a:r>
            <a:r>
              <a:rPr lang="zh-CN" altLang="en-US"/>
              <a:t>的智能图文问答助手</a:t>
            </a:r>
            <a:endParaRPr lang="zh-CN" altLang="en-US"/>
          </a:p>
          <a:p>
            <a:r>
              <a:rPr lang="zh-CN" altLang="en-US"/>
              <a:t>用户上传图片，包括但不限于</a:t>
            </a:r>
            <a:r>
              <a:rPr lang="en-US" altLang="zh-CN"/>
              <a:t>ppt</a:t>
            </a:r>
            <a:r>
              <a:rPr lang="zh-CN" altLang="en-US"/>
              <a:t>，表格，自然照片</a:t>
            </a:r>
            <a:endParaRPr lang="zh-CN" altLang="en-US"/>
          </a:p>
          <a:p>
            <a:r>
              <a:rPr lang="zh-CN" altLang="en-US"/>
              <a:t>用户提出图片相关问题，经典问题如下：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图中有什么物体？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总结</a:t>
            </a:r>
            <a:r>
              <a:rPr lang="en-US" altLang="zh-CN">
                <a:sym typeface="+mn-ea"/>
              </a:rPr>
              <a:t>ppt</a:t>
            </a:r>
            <a:r>
              <a:rPr lang="zh-CN" altLang="en-US">
                <a:sym typeface="+mn-ea"/>
              </a:rPr>
              <a:t>内容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图表有什么趋势？</a:t>
            </a:r>
            <a:endParaRPr lang="zh-CN" altLang="en-US"/>
          </a:p>
          <a:p>
            <a:r>
              <a:rPr lang="zh-CN" altLang="en-US"/>
              <a:t>项目给出相应回答</a:t>
            </a:r>
            <a:endParaRPr lang="zh-CN" altLang="en-US"/>
          </a:p>
          <a:p>
            <a:r>
              <a:rPr lang="zh-CN" altLang="en-US"/>
              <a:t>支持多轮对话（可追问）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为什么要做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传统模型只能处理文字内容，图文混合场景需借助人工</a:t>
            </a:r>
            <a:r>
              <a:rPr lang="en-US" altLang="zh-CN"/>
              <a:t>/OCR</a:t>
            </a:r>
            <a:r>
              <a:rPr lang="zh-CN" altLang="en-US"/>
              <a:t>多步处理</a:t>
            </a:r>
            <a:endParaRPr lang="zh-CN" altLang="en-US"/>
          </a:p>
          <a:p>
            <a:r>
              <a:rPr lang="en-US" altLang="zh-CN"/>
              <a:t>VLM</a:t>
            </a:r>
            <a:r>
              <a:rPr lang="zh-CN" altLang="en-US"/>
              <a:t>能够直接联合建模图像与自然语言，在视觉问答、文档理解和多轮对话方面表现出较强能力</a:t>
            </a:r>
            <a:endParaRPr lang="zh-CN" altLang="en-US"/>
          </a:p>
          <a:p>
            <a:endParaRPr lang="zh-CN" altLang="en-US"/>
          </a:p>
          <a:p>
            <a:endParaRPr lang="en-US" altLang="zh-CN"/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怎么测？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大量公开数据集：</a:t>
            </a:r>
            <a:r>
              <a:rPr lang="en-US" altLang="zh-CN"/>
              <a:t>VQA-v2/TestVQA</a:t>
            </a:r>
            <a:endParaRPr lang="en-US" altLang="zh-CN"/>
          </a:p>
          <a:p>
            <a:r>
              <a:rPr lang="zh-CN" altLang="en-US"/>
              <a:t>少量人工设计极端数据：收集课程讲义</a:t>
            </a:r>
            <a:r>
              <a:rPr lang="en-US" altLang="zh-CN"/>
              <a:t>ppt</a:t>
            </a:r>
            <a:r>
              <a:rPr lang="zh-CN" altLang="en-US"/>
              <a:t>，日常照片</a:t>
            </a:r>
            <a:endParaRPr lang="zh-CN" altLang="en-US"/>
          </a:p>
          <a:p>
            <a:r>
              <a:rPr lang="zh-CN" altLang="en-US"/>
              <a:t>评测指标：</a:t>
            </a:r>
            <a:endParaRPr lang="zh-CN" altLang="en-US"/>
          </a:p>
          <a:p>
            <a:pPr lvl="1"/>
            <a:r>
              <a:rPr lang="zh-CN" altLang="en-US"/>
              <a:t>准确率</a:t>
            </a:r>
            <a:endParaRPr lang="zh-CN" altLang="en-US"/>
          </a:p>
          <a:p>
            <a:pPr lvl="1"/>
            <a:r>
              <a:rPr lang="zh-CN" altLang="en-US"/>
              <a:t>响应时间</a:t>
            </a:r>
            <a:endParaRPr lang="zh-CN" altLang="en-US"/>
          </a:p>
          <a:p>
            <a:pPr lvl="1"/>
            <a:r>
              <a:rPr lang="zh-CN" altLang="en-US"/>
              <a:t>多轮追问稳定性</a:t>
            </a:r>
            <a:endParaRPr lang="zh-CN" altLang="en-US"/>
          </a:p>
          <a:p>
            <a:pPr lvl="1"/>
            <a:r>
              <a:rPr lang="zh-CN" altLang="en-US"/>
              <a:t>误差分析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怎么做？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r>
              <a:rPr lang="zh-CN" altLang="en-US">
                <a:sym typeface="+mn-ea"/>
              </a:rPr>
              <a:t>核心模型：</a:t>
            </a:r>
            <a:r>
              <a:rPr lang="en-US" altLang="zh-CN">
                <a:sym typeface="+mn-ea"/>
              </a:rPr>
              <a:t>Qwen2.5-VL-7B </a:t>
            </a:r>
            <a:endParaRPr lang="en-US" altLang="zh-CN"/>
          </a:p>
          <a:p>
            <a:r>
              <a:rPr lang="zh-CN" altLang="en-US">
                <a:sym typeface="+mn-ea"/>
              </a:rPr>
              <a:t>架构：交互层（</a:t>
            </a:r>
            <a:r>
              <a:rPr lang="en-US" altLang="zh-CN">
                <a:sym typeface="+mn-ea"/>
              </a:rPr>
              <a:t>UI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 - </a:t>
            </a:r>
            <a:r>
              <a:rPr lang="zh-CN" altLang="en-US">
                <a:sym typeface="+mn-ea"/>
              </a:rPr>
              <a:t>推理层（调用</a:t>
            </a:r>
            <a:r>
              <a:rPr lang="en-US" altLang="zh-CN">
                <a:sym typeface="+mn-ea"/>
              </a:rPr>
              <a:t>VLM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 - </a:t>
            </a:r>
            <a:r>
              <a:rPr lang="zh-CN" altLang="en-US">
                <a:sym typeface="+mn-ea"/>
              </a:rPr>
              <a:t>处理层（回答整理）</a:t>
            </a:r>
            <a:endParaRPr lang="zh-CN" altLang="en-US"/>
          </a:p>
          <a:p>
            <a:r>
              <a:rPr lang="zh-CN" altLang="en-US"/>
              <a:t>资源：本地有</a:t>
            </a:r>
            <a:r>
              <a:rPr lang="en-US" altLang="zh-CN"/>
              <a:t>5070ti</a:t>
            </a:r>
            <a:r>
              <a:rPr lang="zh-CN" altLang="en-US"/>
              <a:t>显卡，云端租</a:t>
            </a:r>
            <a:r>
              <a:rPr lang="en-US" altLang="zh-CN"/>
              <a:t>24GB</a:t>
            </a:r>
            <a:r>
              <a:rPr lang="zh-CN" altLang="en-US"/>
              <a:t>显卡成本在</a:t>
            </a:r>
            <a:r>
              <a:rPr lang="en-US" altLang="zh-CN"/>
              <a:t>1.3</a:t>
            </a:r>
            <a:r>
              <a:rPr lang="zh-CN" altLang="en-US"/>
              <a:t>元</a:t>
            </a:r>
            <a:r>
              <a:rPr lang="en-US" altLang="zh-CN"/>
              <a:t>/h</a:t>
            </a:r>
            <a:r>
              <a:rPr lang="zh-CN" altLang="en-US"/>
              <a:t>左右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前期模型搭建（基于</a:t>
            </a:r>
            <a:r>
              <a:rPr lang="en-US" altLang="zh-CN"/>
              <a:t>5070ti</a:t>
            </a:r>
            <a:r>
              <a:rPr lang="zh-CN" altLang="en-US"/>
              <a:t>）预计</a:t>
            </a:r>
            <a:r>
              <a:rPr lang="en-US" altLang="zh-CN"/>
              <a:t>2-3</a:t>
            </a:r>
            <a:r>
              <a:rPr lang="zh-CN" altLang="en-US"/>
              <a:t>周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用</a:t>
            </a:r>
            <a:r>
              <a:rPr lang="en-US" altLang="zh-CN">
                <a:sym typeface="+mn-ea"/>
              </a:rPr>
              <a:t>GPTQ/AWQ 4-bit </a:t>
            </a:r>
            <a:r>
              <a:rPr lang="zh-CN" altLang="en-US">
                <a:sym typeface="+mn-ea"/>
              </a:rPr>
              <a:t>量化版模型</a:t>
            </a:r>
            <a:endParaRPr lang="zh-CN" altLang="en-US"/>
          </a:p>
          <a:p>
            <a:pPr lvl="1"/>
            <a:r>
              <a:rPr lang="en-US" altLang="zh-CN">
                <a:sym typeface="+mn-ea"/>
              </a:rPr>
              <a:t>LoRA</a:t>
            </a:r>
            <a:r>
              <a:rPr lang="zh-CN" altLang="en-US">
                <a:sym typeface="+mn-ea"/>
              </a:rPr>
              <a:t>微调用 </a:t>
            </a:r>
            <a:r>
              <a:rPr lang="en-US" altLang="zh-CN">
                <a:sym typeface="+mn-ea"/>
              </a:rPr>
              <a:t>load_in_4bit=True + bnb_4bit_quant_type="nf4"，</a:t>
            </a:r>
            <a:r>
              <a:rPr lang="zh-CN" altLang="en-US">
                <a:sym typeface="+mn-ea"/>
              </a:rPr>
              <a:t>配合梯度累积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降低输入分辨率</a:t>
            </a:r>
            <a:endParaRPr lang="zh-CN" altLang="en-US"/>
          </a:p>
          <a:p>
            <a:r>
              <a:rPr lang="zh-CN" altLang="en-US"/>
              <a:t>后期模型优化（基于云端算力）预计</a:t>
            </a:r>
            <a:r>
              <a:rPr lang="en-US" altLang="zh-CN"/>
              <a:t>2</a:t>
            </a:r>
            <a:r>
              <a:rPr lang="zh-CN" altLang="en-US"/>
              <a:t>周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pPr marL="457200" lvl="1" indent="0">
              <a:buNone/>
            </a:pPr>
            <a:endParaRPr lang="zh-CN" altLang="en-US"/>
          </a:p>
        </p:txBody>
      </p:sp>
    </p:spTree>
    <p:custDataLst>
      <p:tags r:id="rId3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得到什么？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1. </a:t>
            </a:r>
            <a:r>
              <a:rPr lang="zh-CN" altLang="en-US"/>
              <a:t>可运行的图文问答助手原型</a:t>
            </a:r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支持自然场景图与文档图的问答能力</a:t>
            </a:r>
            <a:endParaRPr lang="zh-CN" altLang="en-US"/>
          </a:p>
          <a:p>
            <a:r>
              <a:rPr lang="en-US" altLang="zh-CN"/>
              <a:t>3. </a:t>
            </a:r>
            <a:r>
              <a:rPr lang="zh-CN" altLang="en-US"/>
              <a:t>一套中文测试样例与评测结果</a:t>
            </a:r>
            <a:endParaRPr lang="zh-CN" altLang="en-US"/>
          </a:p>
          <a:p>
            <a:r>
              <a:rPr lang="en-US" altLang="zh-CN"/>
              <a:t>4. </a:t>
            </a:r>
            <a:r>
              <a:rPr lang="zh-CN" altLang="en-US"/>
              <a:t>成功</a:t>
            </a:r>
            <a:r>
              <a:rPr lang="en-US" altLang="zh-CN"/>
              <a:t> / </a:t>
            </a:r>
            <a:r>
              <a:rPr lang="zh-CN" altLang="en-US"/>
              <a:t>失败案例分析</a:t>
            </a:r>
            <a:endParaRPr lang="zh-CN" altLang="en-US"/>
          </a:p>
          <a:p>
            <a:r>
              <a:rPr lang="en-US" altLang="zh-CN"/>
              <a:t>5. </a:t>
            </a:r>
            <a:r>
              <a:rPr lang="zh-CN" altLang="en-US"/>
              <a:t>最终报告与答辩材料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谢谢！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592</Words>
  <Application>WPS 演示</Application>
  <PresentationFormat>宽屏</PresentationFormat>
  <Paragraphs>60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基于 VLM 的智能图文问答助手</vt:lpstr>
      <vt:lpstr>选题背景</vt:lpstr>
      <vt:lpstr>任务定义</vt:lpstr>
      <vt:lpstr>任务定义</vt:lpstr>
      <vt:lpstr>相关工作</vt:lpstr>
      <vt:lpstr>预期成果</vt:lpstr>
      <vt:lpstr>谢谢！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南阳野人</cp:lastModifiedBy>
  <cp:revision>168</cp:revision>
  <dcterms:created xsi:type="dcterms:W3CDTF">2019-06-19T02:08:00Z</dcterms:created>
  <dcterms:modified xsi:type="dcterms:W3CDTF">2026-05-06T13:47:47Z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75951EB1471D439C80EC8942B1055589_11</vt:lpwstr>
  </property>
</Properties>
</file>